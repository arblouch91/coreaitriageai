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89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8036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6072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DCE6FA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2920"/>
            <a:ext cx="146304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C-04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94360"/>
            <a:ext cx="548640" cy="5486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744200" y="594360"/>
            <a:ext cx="548640" cy="548640"/>
          </a:xfrm>
          <a:prstGeom prst="ellipse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64008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CoreTriageAI</a:t>
            </a:r>
            <a:endParaRPr lang="en-US" sz="6400" dirty="0"/>
          </a:p>
        </p:txBody>
      </p:sp>
      <p:sp>
        <p:nvSpPr>
          <p:cNvPr id="27" name="Shape 23"/>
          <p:cNvSpPr/>
          <p:nvPr/>
        </p:nvSpPr>
        <p:spPr>
          <a:xfrm>
            <a:off x="548640" y="2880360"/>
            <a:ext cx="54864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CE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Triage &amp; Intelligent Auto-Response Bot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54864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classifies, prioritizes, and drafts professional responses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thousands of customer complaints — in seconds, not hours.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solidFill>
            <a:srgbClr val="08133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—  CoreAI TEAM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Asif</a:t>
            </a:r>
            <a:r>
              <a:rPr lang="en-US" sz="14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 Lead</a:t>
            </a: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</a:t>
            </a: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Haris Javed</a:t>
            </a: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Ahsan Raza</a:t>
            </a: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Waqar Nafees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walk you through this pitch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pitch that follows a strict three-act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3566160" cy="3657600"/>
          </a:xfrm>
          <a:prstGeom prst="rect">
            <a:avLst/>
          </a:prstGeom>
          <a:solidFill>
            <a:srgbClr val="DCE6FA"/>
          </a:solidFill>
          <a:ln w="12700">
            <a:solidFill>
              <a:srgbClr val="0F1E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3566160" cy="6400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548640" cy="0"/>
          </a:xfrm>
          <a:prstGeom prst="line">
            <a:avLst/>
          </a:prstGeom>
          <a:noFill/>
          <a:ln w="25400">
            <a:solidFill>
              <a:srgbClr val="0F1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bank's pain point, the people behind the solution, and prove the opportunity is worth solving.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538728"/>
            <a:ext cx="237744" cy="2377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297680" y="1828800"/>
            <a:ext cx="3566160" cy="3657600"/>
          </a:xfrm>
          <a:prstGeom prst="rect">
            <a:avLst/>
          </a:prstGeom>
          <a:solidFill>
            <a:srgbClr val="FCE9B6"/>
          </a:solidFill>
          <a:ln w="12700">
            <a:solidFill>
              <a:srgbClr val="F4B94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828800"/>
            <a:ext cx="3566160" cy="6400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3657600"/>
            <a:ext cx="54864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proposed AI solution, system architecture, and prototype that proves the model actually works.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538728"/>
            <a:ext cx="237744" cy="23774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183880" y="1828800"/>
            <a:ext cx="356616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08133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83880" y="1828800"/>
            <a:ext cx="3566160" cy="64008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582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84582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Execution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84582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8–10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458200" y="3657600"/>
            <a:ext cx="548640" cy="0"/>
          </a:xfrm>
          <a:prstGeom prst="line">
            <a:avLst/>
          </a:prstGeom>
          <a:noFill/>
          <a:ln w="25400">
            <a:solidFill>
              <a:srgbClr val="08133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58200" y="3794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limitations honestly, show the post-hackathon roadmap, and quantify the business value.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customer's first complaint to the executive's final approval — every act earns the next.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 —  THE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 establishes the baseline pain points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people solving them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42062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Project Overview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45720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3317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CoreTriageAI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3172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317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Asif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343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33172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Rehman, Muhammad Haris Javed,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Ahsan Raza, Waqar Nafees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3172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— Customer Experience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CATEGORY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33172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 Triage (C-04)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5715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33172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github.com/arblouch91/CoreAITriageAI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2011680"/>
            <a:ext cx="557784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2011680"/>
            <a:ext cx="557784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305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208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217920" y="2743200"/>
            <a:ext cx="1463040" cy="7955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2743200"/>
            <a:ext cx="1371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726680" y="2743200"/>
            <a:ext cx="37033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18120" y="27889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receive thousands of complaints across email, web, mobile, and social — each manually read, classified, and routed by support staff.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217920" y="3566160"/>
            <a:ext cx="1463040" cy="7955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63640" y="3566160"/>
            <a:ext cx="1371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7726680" y="3566160"/>
            <a:ext cx="37033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18120" y="361188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takes hours per complaint, creates backlogs, and delays first response — frustrating customers and exhausting agents.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217920" y="4389120"/>
            <a:ext cx="1463040" cy="7955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63640" y="4389120"/>
            <a:ext cx="1371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726680" y="4389120"/>
            <a:ext cx="37033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818120" y="443484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CSAT scores, regulatory exposure on response SLAs, lost customer trust, and rising operational cost per case.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217920" y="5212080"/>
            <a:ext cx="1463040" cy="79552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63640" y="5212080"/>
            <a:ext cx="1371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726680" y="5212080"/>
            <a:ext cx="37033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818120" y="525780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read, classify by category &amp; urgency, auto-route to the right team, and draft a professional first response in seconds.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 •  CONTEXT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 —  THE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 the opportunity to anchor the business case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3657600" cy="6400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93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3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hrs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per complaint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069080"/>
            <a:ext cx="310896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4008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 sec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00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CoreTriageAI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5440680"/>
            <a:ext cx="365760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faster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51960" y="18288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51960" y="1828800"/>
            <a:ext cx="3657600" cy="6400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9339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1828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CASE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262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3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2628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~$32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45262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agent handling cost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26280" y="4069080"/>
            <a:ext cx="310896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452628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262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first response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251960" y="5440680"/>
            <a:ext cx="365760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5196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 lower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38160" y="18288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993392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78240" y="1828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4124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3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41248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3200" dirty="0"/>
          </a:p>
        </p:txBody>
      </p:sp>
      <p:sp>
        <p:nvSpPr>
          <p:cNvPr id="37" name="Text 32"/>
          <p:cNvSpPr/>
          <p:nvPr/>
        </p:nvSpPr>
        <p:spPr>
          <a:xfrm>
            <a:off x="84124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first-response time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412480" y="4069080"/>
            <a:ext cx="310896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dash"/>
          </a:ln>
        </p:spPr>
      </p:sp>
      <p:sp>
        <p:nvSpPr>
          <p:cNvPr id="39" name="Text 34"/>
          <p:cNvSpPr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min</a:t>
            </a:r>
            <a:endParaRPr lang="en-US" sz="3200" dirty="0"/>
          </a:p>
        </p:txBody>
      </p:sp>
      <p:sp>
        <p:nvSpPr>
          <p:cNvPr id="41" name="Text 36"/>
          <p:cNvSpPr/>
          <p:nvPr/>
        </p:nvSpPr>
        <p:spPr>
          <a:xfrm>
            <a:off x="84124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reply, one-click send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38160" y="5440680"/>
            <a:ext cx="365760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3816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lift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industry benchmarks for retail banking complaint operations and back-office triage workflows.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 •  CONTEXT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—  THE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 visualizes the AI solution through the user's lens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2940" y="1874520"/>
            <a:ext cx="246888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1874520"/>
            <a:ext cx="246888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48740" y="2514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743200"/>
            <a:ext cx="64008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5820" y="2468880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582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5820" y="4389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pastes a complaint or selects from the queue of 50 mock cases.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017520"/>
            <a:ext cx="246888" cy="2468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51860" y="1874520"/>
            <a:ext cx="246888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51860" y="1874520"/>
            <a:ext cx="2468880" cy="4114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518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37660" y="2514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2743200"/>
            <a:ext cx="640080" cy="640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634740" y="2468880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347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63474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Classifies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Prioritizes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634740" y="4389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category, urgency (High / Medium / Low), and sentiment score.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017520"/>
            <a:ext cx="246888" cy="2468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40780" y="1874520"/>
            <a:ext cx="246888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240780" y="1874520"/>
            <a:ext cx="2468880" cy="41148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2407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26580" y="2514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180" y="2743200"/>
            <a:ext cx="640080" cy="6400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423660" y="2468880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4236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42366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Auto-Routed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Right Team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423660" y="4389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Fraud, Card Ops, Digital Banking, or Relationship Mgmt.</a:t>
            </a:r>
            <a:endParaRPr lang="en-US" sz="10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236" y="3017520"/>
            <a:ext cx="246888" cy="24688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9029700" y="1874520"/>
            <a:ext cx="246888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029700" y="1874520"/>
            <a:ext cx="246888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0297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9715500" y="2514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2743200"/>
            <a:ext cx="640080" cy="64008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9212580" y="2468880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92125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921258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Drafted</a:t>
            </a:r>
            <a:endParaRPr lang="en-US" sz="1400" dirty="0"/>
          </a:p>
        </p:txBody>
      </p:sp>
      <p:sp>
        <p:nvSpPr>
          <p:cNvPr id="43" name="Text 34"/>
          <p:cNvSpPr/>
          <p:nvPr/>
        </p:nvSpPr>
        <p:spPr>
          <a:xfrm>
            <a:off x="9212580" y="4389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Empathetic, professional reply ready for one-click send by agent.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FCE9B6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532120"/>
            <a:ext cx="411480" cy="4114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325880" y="5349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list features. We isolate exactly what the AI does — and where the human still owns the final send.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•  ENGINE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—  THE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technical viability with the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7512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514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3200400"/>
            <a:ext cx="164592" cy="0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23744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87168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372" y="25146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542032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MVC UI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42232" y="3200400"/>
            <a:ext cx="164592" cy="0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379976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43400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06824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251460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98264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398264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&amp; Services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98464" y="3200400"/>
            <a:ext cx="164592" cy="0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36208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99632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63056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836" y="2514600"/>
            <a:ext cx="640080" cy="6400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54496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Model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254496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LLM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854696" y="3200400"/>
            <a:ext cx="164592" cy="0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092440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055864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019288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068" y="2514600"/>
            <a:ext cx="640080" cy="6400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10728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110728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+ Logs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710928" y="3200400"/>
            <a:ext cx="164592" cy="0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9948672" y="2267712"/>
            <a:ext cx="1691640" cy="20116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912096" y="2231136"/>
            <a:ext cx="1691640" cy="2011680"/>
          </a:xfrm>
          <a:prstGeom prst="rect">
            <a:avLst/>
          </a:prstGeom>
          <a:solidFill>
            <a:srgbClr val="DCE6FA"/>
          </a:solidFill>
          <a:ln w="6350">
            <a:solidFill>
              <a:srgbClr val="0F1E47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875520" y="2194560"/>
            <a:ext cx="1691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0" y="2514600"/>
            <a:ext cx="640080" cy="6400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96696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9966960" y="3657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Queue View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617720"/>
            <a:ext cx="5394960" cy="868680"/>
          </a:xfrm>
          <a:prstGeom prst="rect">
            <a:avLst/>
          </a:prstGeom>
          <a:solidFill>
            <a:srgbClr val="FCE9B6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754880"/>
            <a:ext cx="411480" cy="4114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280160" y="46177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ML classifier + LLM-based reply generator. Training data = 50 mock complaints across 8 categories.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6217920" y="4617720"/>
            <a:ext cx="5394960" cy="868680"/>
          </a:xfrm>
          <a:prstGeom prst="rect">
            <a:avLst/>
          </a:prstGeom>
          <a:solidFill>
            <a:srgbClr val="DCE6FA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754880"/>
            <a:ext cx="411480" cy="41148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949440" y="46177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Integration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Routes to existing CRM tickets; no PII leaves the bank's perimeter; full audit trail.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548640" y="5669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1234440" y="5696712"/>
            <a:ext cx="146304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1234440" y="5696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MVC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2834640" y="5696712"/>
            <a:ext cx="128016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2834640" y="5696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4251960" y="5696712"/>
            <a:ext cx="182880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4251960" y="5696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ML.NET / OpenAI</a:t>
            </a:r>
            <a:endParaRPr lang="en-US" sz="1000" dirty="0"/>
          </a:p>
        </p:txBody>
      </p:sp>
      <p:sp>
        <p:nvSpPr>
          <p:cNvPr id="59" name="Shape 49"/>
          <p:cNvSpPr/>
          <p:nvPr/>
        </p:nvSpPr>
        <p:spPr>
          <a:xfrm>
            <a:off x="6217920" y="5696712"/>
            <a:ext cx="228600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6217920" y="5696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EF Core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8641080" y="5696712"/>
            <a:ext cx="1554480" cy="3657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8641080" y="5696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UI</a:t>
            </a:r>
            <a:endParaRPr lang="en-US" sz="1000" dirty="0"/>
          </a:p>
        </p:txBody>
      </p:sp>
      <p:sp>
        <p:nvSpPr>
          <p:cNvPr id="63" name="Shape 5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65" name="Text 55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•  ENGINE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—  THE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actually thinks about a complaint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54864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807208"/>
            <a:ext cx="374904" cy="3749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4378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Classification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3035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model assigns one of 8 categories (Fraud, Fees, Service, Card Issue, etc.).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" y="3767328"/>
            <a:ext cx="374904" cy="3749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0390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Scoring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54480" y="3995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ML hybrid maps language cues ("charged twice", "3 weeks") to High / Medium / Low urgency.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2688" y="4727448"/>
            <a:ext cx="374904" cy="3749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7640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54480" y="4956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flags angry or distressed customers for human review before send.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68680" y="5623560"/>
            <a:ext cx="502920" cy="50292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2688" y="5687568"/>
            <a:ext cx="374904" cy="3749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7241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Response Drafting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554480" y="5916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template generates an empathetic, on-brand reply — agent reviews and approves.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63640" y="1828800"/>
            <a:ext cx="5349240" cy="443484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5836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 —  8 categories handled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583680" y="2468880"/>
            <a:ext cx="54864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0" y="274320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693408" y="290779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693408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132320" y="274320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Disputed Charge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8938260" y="274320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047988" y="290779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047988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486900" y="274320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Charges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583680" y="356616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693408" y="373075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6934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7132320" y="356616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Downtime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8938260" y="356616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9047988" y="373075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04798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9486900" y="356616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Issues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583680" y="438912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693408" y="455371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693408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7132320" y="438912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8938260" y="438912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9047988" y="455371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9047988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9486900" y="438912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/ Credit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6583680" y="521208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693408" y="537667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693408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7132320" y="521208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Digital Banking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8938260" y="5212080"/>
            <a:ext cx="2217420" cy="685800"/>
          </a:xfrm>
          <a:prstGeom prst="rect">
            <a:avLst/>
          </a:prstGeom>
          <a:solidFill>
            <a:srgbClr val="081330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9047988" y="5376672"/>
            <a:ext cx="365760" cy="3657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9047988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9486900" y="5212080"/>
            <a:ext cx="1577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Inquiry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65" name="Text 59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 •  ENGINE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—  THE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executive credibility by acknowledging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1965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contain PII and account data. We isolate the AI model behind the bank's perimeter, redact identifiers before model calls, and keep a full audit log.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486400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828800"/>
            <a:ext cx="109728" cy="196596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Risk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6092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could under-prioritize specific dialects or customer segments. Mitigation: balanced training set, regular fairness audits, and human-in-the-loop on High-priority cases.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4023360"/>
            <a:ext cx="5486400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4023360"/>
            <a:ext cx="109728" cy="1965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34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Limitations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0020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model is trained on 50 mock cases — it will misclassify edge cases. Agent always confirms category and approves the drafted reply before send.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17920" y="4023360"/>
            <a:ext cx="5486400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023360"/>
            <a:ext cx="109728" cy="1965960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434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Concerns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36092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 mock complaints to thousands per day requires retraining, queue infra, and SLA monitoring. We address this in the post-hackathon roadmap.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hide flaws. We name them, mitigate them, and earn the room's trust.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•  EXECUTION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—  THE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a concrete roadmap for life after the hackathon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25400">
            <a:solidFill>
              <a:srgbClr val="0F1E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6248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816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056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624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864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432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0672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240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5480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048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0288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856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5096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7664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9904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472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247120" y="3767328"/>
            <a:ext cx="0" cy="146304"/>
          </a:xfrm>
          <a:prstGeom prst="line">
            <a:avLst/>
          </a:prstGeom>
          <a:noFill/>
          <a:ln w="19050">
            <a:solidFill>
              <a:srgbClr val="0F1E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3694176"/>
            <a:ext cx="1148080" cy="2926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694176"/>
            <a:ext cx="114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4000" y="2148840"/>
            <a:ext cx="2468880" cy="1280160"/>
          </a:xfrm>
          <a:prstGeom prst="rect">
            <a:avLst/>
          </a:prstGeom>
          <a:solidFill>
            <a:srgbClr val="F7F9FC"/>
          </a:solidFill>
          <a:ln w="15240">
            <a:solidFill>
              <a:srgbClr val="F4B9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4000" y="3355848"/>
            <a:ext cx="246888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prototype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116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mock complaints • 8 categories • single bank UI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88440" y="3429000"/>
            <a:ext cx="0" cy="265176"/>
          </a:xfrm>
          <a:prstGeom prst="line">
            <a:avLst/>
          </a:prstGeom>
          <a:noFill/>
          <a:ln w="9525">
            <a:solidFill>
              <a:srgbClr val="F4B94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062480" y="3694176"/>
            <a:ext cx="3444240" cy="292608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62480" y="3694176"/>
            <a:ext cx="344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33880" y="4343400"/>
            <a:ext cx="3901440" cy="1280160"/>
          </a:xfrm>
          <a:prstGeom prst="rect">
            <a:avLst/>
          </a:prstGeom>
          <a:solidFill>
            <a:srgbClr val="F7F9FC"/>
          </a:solidFill>
          <a:ln w="15240">
            <a:solidFill>
              <a:srgbClr val="0F1E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33880" y="4343400"/>
            <a:ext cx="3901440" cy="73152"/>
          </a:xfrm>
          <a:prstGeom prst="rect">
            <a:avLst/>
          </a:prstGeom>
          <a:solidFill>
            <a:srgbClr val="0F1E47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71040" y="4480560"/>
            <a:ext cx="362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retail business unit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971040" y="4846320"/>
            <a:ext cx="362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(anonymized) complaints • 1k/day • shadow mode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84600" y="3986784"/>
            <a:ext cx="0" cy="356616"/>
          </a:xfrm>
          <a:prstGeom prst="line">
            <a:avLst/>
          </a:prstGeom>
          <a:noFill/>
          <a:ln w="9525">
            <a:solidFill>
              <a:srgbClr val="0F1E47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506720" y="3694176"/>
            <a:ext cx="5740400" cy="292608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6720" y="3694176"/>
            <a:ext cx="574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Rollout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19520" y="2148840"/>
            <a:ext cx="4114800" cy="1280160"/>
          </a:xfrm>
          <a:prstGeom prst="rect">
            <a:avLst/>
          </a:prstGeom>
          <a:solidFill>
            <a:srgbClr val="F7F9FC"/>
          </a:solidFill>
          <a:ln w="15240">
            <a:solidFill>
              <a:srgbClr val="0813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19520" y="3355848"/>
            <a:ext cx="4114800" cy="73152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566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Bank-wide deployment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5668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intake • SLA dashboards • CRM integration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76920" y="3429000"/>
            <a:ext cx="0" cy="265176"/>
          </a:xfrm>
          <a:prstGeom prst="line">
            <a:avLst/>
          </a:prstGeom>
          <a:noFill/>
          <a:ln w="9525">
            <a:solidFill>
              <a:srgbClr val="08133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DCE6FA"/>
          </a:solidFill>
          <a:ln w="12700">
            <a:solidFill>
              <a:srgbClr val="0F1E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 </a:t>
            </a:r>
            <a:r>
              <a:rPr lang="en-US" sz="11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retraining  •  ongoing fairness audits  •  expansion to onboarding &amp; dispute workflows.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•  EXECUTION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8036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60720"/>
            <a:ext cx="12161520" cy="0"/>
          </a:xfrm>
          <a:prstGeom prst="line">
            <a:avLst/>
          </a:prstGeom>
          <a:noFill/>
          <a:ln w="5080">
            <a:solidFill>
              <a:srgbClr val="DCE6FA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 —  THE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technical success into strategic ROI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9456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229514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$2.3M</a:t>
            </a:r>
            <a:endParaRPr lang="en-US" sz="6000" dirty="0"/>
          </a:p>
        </p:txBody>
      </p:sp>
      <p:sp>
        <p:nvSpPr>
          <p:cNvPr id="14" name="Shape 11"/>
          <p:cNvSpPr/>
          <p:nvPr/>
        </p:nvSpPr>
        <p:spPr>
          <a:xfrm>
            <a:off x="685800" y="3840480"/>
            <a:ext cx="4572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complaint-handling labor, faster resolution, and reduced regulatory risk.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51960" y="19659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219456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29514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6000" dirty="0"/>
          </a:p>
        </p:txBody>
      </p:sp>
      <p:sp>
        <p:nvSpPr>
          <p:cNvPr id="21" name="Shape 17"/>
          <p:cNvSpPr/>
          <p:nvPr/>
        </p:nvSpPr>
        <p:spPr>
          <a:xfrm>
            <a:off x="4572000" y="3840480"/>
            <a:ext cx="4572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Reduction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0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per complaint to seconds — agents focus only on the High-priority cases.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138160" y="19659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018520" y="219456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4" y="229514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2606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28" name="Shape 23"/>
          <p:cNvSpPr/>
          <p:nvPr/>
        </p:nvSpPr>
        <p:spPr>
          <a:xfrm>
            <a:off x="8458200" y="3840480"/>
            <a:ext cx="4572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45820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Scalability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458200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extends to onboarding, disputes, and loan servicing across every business unit.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77240" y="5440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CoreTriageAI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8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is a tax on the bank. We automate the tax — and free agents to do the work that matters.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Omer Asif (Lead), Abdul Rehman, Muhammad Haris Javed, Muhammad Ahsan Raza, Waqar Nafees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81330"/>
          </a:solidFill>
          <a:ln w="12700">
            <a:solidFill>
              <a:srgbClr val="08133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CoreAI Team  •  CoreTriageAI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425196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•  THANK YOU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1212</Words>
  <Application>Microsoft Office PowerPoint</Application>
  <PresentationFormat>Widescreen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CoreAI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CoreTriageAI — Complaint Triage &amp; Intelligent Auto-Response Bot</dc:title>
  <dc:subject>PptxGenJS Presentation</dc:subject>
  <dc:creator>CoreAI Team</dc:creator>
  <cp:lastModifiedBy>Muhammad Haris Javed</cp:lastModifiedBy>
  <cp:revision>1</cp:revision>
  <dcterms:created xsi:type="dcterms:W3CDTF">2026-04-25T13:41:18Z</dcterms:created>
  <dcterms:modified xsi:type="dcterms:W3CDTF">2026-04-25T13:48:42Z</dcterms:modified>
</cp:coreProperties>
</file>